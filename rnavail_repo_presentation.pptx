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0"/>
          </a:solidFill>
          <a:ln>
            <a:solidFill>
              <a:srgbClr val="12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132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rnavail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47088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B6F5E9"/>
                </a:solidFill>
                <a:latin typeface="Aptos"/>
              </a:rPr>
              <a:t>Is this RNA target actually available to bind?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70048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A practical, provenance-aware screen for RNA target-region accessibility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005840"/>
            <a:ext cx="2286000" cy="4206240"/>
          </a:xfrm>
          <a:prstGeom prst="roundRect">
            <a:avLst/>
          </a:prstGeom>
          <a:solidFill>
            <a:srgbClr val="1C3246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81160" y="141732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EE7B7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856231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Mono"/>
              </a:rPr>
              <a:t>AUGC…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02368" y="2395728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6EE7B7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299923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OPEN?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37947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P + ΔG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72200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tos"/>
              </a:rPr>
              <a:t>Repository presentation •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The sequence can be right — and the target still unreachable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36192"/>
            <a:ext cx="5074920" cy="4343400"/>
          </a:xfrm>
          <a:prstGeom prst="roundRect">
            <a:avLst/>
          </a:prstGeom>
          <a:solidFill>
            <a:srgbClr val="F5F8FA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56231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2030"/>
                </a:solidFill>
                <a:latin typeface="Aptos"/>
              </a:rPr>
              <a:t>RNA folds back on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450592"/>
            <a:ext cx="4251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A complementary site may already be paired inside a stem. A binder cannot use bases that are structurally occupied.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06908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C2626"/>
                </a:solidFill>
                <a:latin typeface="Aptos"/>
              </a:rPr>
              <a:t>PRESENT ≠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800600"/>
            <a:ext cx="4297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26170"/>
                </a:solidFill>
                <a:latin typeface="Aptos"/>
              </a:rPr>
              <a:t>The molecule samples an ensemble of structures, so “open” is a probability—not a single drawing.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36192"/>
            <a:ext cx="5303520" cy="4343400"/>
          </a:xfrm>
          <a:prstGeom prst="round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856231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Aptos"/>
              </a:rPr>
              <a:t>The decision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343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030"/>
                </a:solidFill>
                <a:latin typeface="Aptos"/>
              </a:rPr>
              <a:t>How often is the complete target footprint open at the same time?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069080"/>
            <a:ext cx="4251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ptos"/>
              </a:rPr>
              <a:t>Relevant to antisense oligos, toehold triggers, CRISPR spacers, primers and miRNA seeds.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README.md; docs/01-the-question.md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Designers need a shortlist—not another plausible-looking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013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76479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0"/>
                </a:solidFill>
                <a:latin typeface="Aptos"/>
              </a:rPr>
              <a:t>Correct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286000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Whole-footprint joint opening, with seed opening kept separate.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50876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8013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5472" y="176479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0"/>
                </a:solidFill>
                <a:latin typeface="Aptos"/>
              </a:rPr>
              <a:t>Comparable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5472" y="2286000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Label model family and scope; do not count duplicate interfaces as independent votes.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749039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04164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400507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0"/>
                </a:solidFill>
                <a:latin typeface="Aptos"/>
              </a:rPr>
              <a:t>Actionable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526279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Scan hundreds of windows cheaply, then deeply evaluate a small non-overlapping shortlist.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3749039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404164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400507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0"/>
                </a:solidFill>
                <a:latin typeface="Aptos"/>
              </a:rPr>
              <a:t>Honest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4526279"/>
            <a:ext cx="3886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Surface failures, protocol disagreement, conditioning gaps and missing physics.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README.md; docs/03-architecture.md; docs/05-consensus-and-scoring.md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rnavail turns one RNA into ranked, traceable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7276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38528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0"/>
                </a:solidFill>
                <a:latin typeface="Aptos"/>
              </a:rPr>
              <a:t>FASTA or literal sequence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2331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170"/>
                </a:solidFill>
                <a:latin typeface="Aptos"/>
              </a:rPr>
              <a:t>+ footprint, recognition,
conditions, optional probing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D948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508760"/>
            <a:ext cx="4617720" cy="3520440"/>
          </a:xfrm>
          <a:prstGeom prst="round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82880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Aptos"/>
              </a:rPr>
              <a:t>RNAVAIL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395728"/>
            <a:ext cx="36576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22030"/>
                </a:solidFill>
                <a:latin typeface="Aptos"/>
              </a:rPr>
              <a:t>Local screen
+ global confirmation
+ structural diagnostics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2519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26170"/>
                </a:solidFill>
                <a:latin typeface="Aptos"/>
              </a:rPr>
              <a:t>One request → compatible readings + provenance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D9488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57276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3852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0"/>
                </a:solidFill>
                <a:latin typeface="Aptos"/>
              </a:rPr>
              <a:t>Ranked 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56032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joint P(unpaired)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ΔGopen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seed accessibility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warnings + lineage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65099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Text • JSON • TSV • 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README.md; docs/02-pipeline.md; docs/06-outputs.md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How it works: screen broadly, confirm deeply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" y="1572768"/>
            <a:ext cx="658368" cy="65836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700784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46504" y="1901952"/>
            <a:ext cx="758952" cy="0"/>
          </a:xfrm>
          <a:prstGeom prst="line">
            <a:avLst/>
          </a:prstGeom>
          <a:ln w="25400">
            <a:solidFill>
              <a:srgbClr val="99A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2487168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030"/>
                </a:solidFill>
                <a:latin typeface="Aptos"/>
              </a:rPr>
              <a:t>Declare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90088"/>
            <a:ext cx="16276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Sequence, footprint, event, protocol</a:t>
            </a:r>
          </a:p>
        </p:txBody>
      </p:sp>
      <p:sp>
        <p:nvSpPr>
          <p:cNvPr id="10" name="Oval 9"/>
          <p:cNvSpPr/>
          <p:nvPr/>
        </p:nvSpPr>
        <p:spPr>
          <a:xfrm>
            <a:off x="2990088" y="1572768"/>
            <a:ext cx="658368" cy="65836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00784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66744" y="1901952"/>
            <a:ext cx="758952" cy="0"/>
          </a:xfrm>
          <a:prstGeom prst="line">
            <a:avLst/>
          </a:prstGeom>
          <a:ln w="25400">
            <a:solidFill>
              <a:srgbClr val="99A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14600" y="2487168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030"/>
                </a:solidFill>
                <a:latin typeface="Aptos"/>
              </a:rPr>
              <a:t>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990088"/>
            <a:ext cx="16276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Every candidate window</a:t>
            </a:r>
          </a:p>
        </p:txBody>
      </p:sp>
      <p:sp>
        <p:nvSpPr>
          <p:cNvPr id="15" name="Oval 14"/>
          <p:cNvSpPr/>
          <p:nvPr/>
        </p:nvSpPr>
        <p:spPr>
          <a:xfrm>
            <a:off x="4910328" y="1572768"/>
            <a:ext cx="658368" cy="65836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1700784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86984" y="1901952"/>
            <a:ext cx="758952" cy="0"/>
          </a:xfrm>
          <a:prstGeom prst="line">
            <a:avLst/>
          </a:prstGeom>
          <a:ln w="25400">
            <a:solidFill>
              <a:srgbClr val="99A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34840" y="2487168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030"/>
                </a:solidFill>
                <a:latin typeface="Aptos"/>
              </a:rPr>
              <a:t>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990088"/>
            <a:ext cx="16276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RNAplfold local joint opening</a:t>
            </a:r>
          </a:p>
        </p:txBody>
      </p:sp>
      <p:sp>
        <p:nvSpPr>
          <p:cNvPr id="20" name="Oval 19"/>
          <p:cNvSpPr/>
          <p:nvPr/>
        </p:nvSpPr>
        <p:spPr>
          <a:xfrm>
            <a:off x="6830568" y="1572768"/>
            <a:ext cx="658368" cy="65836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1700784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07224" y="1901952"/>
            <a:ext cx="758952" cy="0"/>
          </a:xfrm>
          <a:prstGeom prst="line">
            <a:avLst/>
          </a:prstGeom>
          <a:ln w="25400">
            <a:solidFill>
              <a:srgbClr val="99A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55080" y="2487168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030"/>
                </a:solidFill>
                <a:latin typeface="Aptos"/>
              </a:rPr>
              <a:t>Shortlist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90088"/>
            <a:ext cx="16276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Seed-first when mechanism supports it; remove overlap</a:t>
            </a:r>
          </a:p>
        </p:txBody>
      </p:sp>
      <p:sp>
        <p:nvSpPr>
          <p:cNvPr id="25" name="Oval 24"/>
          <p:cNvSpPr/>
          <p:nvPr/>
        </p:nvSpPr>
        <p:spPr>
          <a:xfrm>
            <a:off x="8750808" y="1572768"/>
            <a:ext cx="658368" cy="65836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0808" y="1700784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27464" y="1901952"/>
            <a:ext cx="758952" cy="0"/>
          </a:xfrm>
          <a:prstGeom prst="line">
            <a:avLst/>
          </a:prstGeom>
          <a:ln w="25400">
            <a:solidFill>
              <a:srgbClr val="99A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75320" y="2487168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030"/>
                </a:solidFill>
                <a:latin typeface="Aptos"/>
              </a:rPr>
              <a:t>Deep stage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990088"/>
            <a:ext cx="16276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Exact global PF + orthogonal diagnostics</a:t>
            </a:r>
          </a:p>
        </p:txBody>
      </p:sp>
      <p:sp>
        <p:nvSpPr>
          <p:cNvPr id="30" name="Oval 29"/>
          <p:cNvSpPr/>
          <p:nvPr/>
        </p:nvSpPr>
        <p:spPr>
          <a:xfrm>
            <a:off x="10671048" y="1572768"/>
            <a:ext cx="658368" cy="658368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71048" y="1700784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487168"/>
            <a:ext cx="16276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030"/>
                </a:solidFill>
                <a:latin typeface="Aptos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990088"/>
            <a:ext cx="16276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Rank, disagreement, notes, provenance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800600"/>
            <a:ext cx="10561320" cy="1097280"/>
          </a:xfrm>
          <a:prstGeom prst="roundRect">
            <a:avLst/>
          </a:prstGeom>
          <a:solidFill>
            <a:srgbClr val="F5F8FA"/>
          </a:solidFill>
          <a:ln>
            <a:solidFill>
              <a:srgbClr val="DE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09320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tos"/>
              </a:rPr>
              <a:t>Key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12848" y="4992624"/>
            <a:ext cx="8641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0"/>
                </a:solidFill>
                <a:latin typeface="Aptos"/>
              </a:rPr>
              <a:t>The displayed probability and ΔG come from one coherent opening observation; model disagreement stays visible instead of being averaged away.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docs/02-pipeline.md; docs/05-consensus-and-scoring.md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A LITTLE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Accessibility is an ensemble property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81328"/>
            <a:ext cx="3246120" cy="4526280"/>
          </a:xfrm>
          <a:prstGeom prst="roundRect">
            <a:avLst/>
          </a:prstGeom>
          <a:solidFill>
            <a:srgbClr val="F5F8FA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1051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1 • RNA is not one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14016"/>
            <a:ext cx="2606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The sequence samples many secondary structures. Their relative energies determine how often each structure occurs.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81304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Aptos"/>
              </a:rPr>
              <a:t>Boltzmann ensemble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315968"/>
            <a:ext cx="2606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030"/>
                </a:solidFill>
                <a:latin typeface="Aptos"/>
              </a:rPr>
              <a:t>low-energy structures
carry more statistical weight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1481328"/>
            <a:ext cx="3246120" cy="4526280"/>
          </a:xfrm>
          <a:prstGeom prst="round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81051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2 • Ask for an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414016"/>
            <a:ext cx="2606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For interval i…j, sum the ensemble weight of every structure where all bases in that interval are unpaired.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886200"/>
            <a:ext cx="2606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D9488"/>
                </a:solidFill>
                <a:latin typeface="Aptos"/>
              </a:rPr>
              <a:t>Pᵤₙₚ(i,j)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6817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26170"/>
                </a:solidFill>
                <a:latin typeface="Aptos"/>
              </a:rPr>
              <a:t>0 = shut   •   1 = 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1481328"/>
            <a:ext cx="3794760" cy="452628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810512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3 • Convert probability to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578608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59E0B"/>
                </a:solidFill>
                <a:latin typeface="Aptos"/>
              </a:rPr>
              <a:t>ΔGopen = −RT · ln(Pᵤₙₚ)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333756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6170"/>
                </a:solidFill>
                <a:latin typeface="Aptos"/>
              </a:rPr>
              <a:t>At 37 °C, RT ≈ 0.616 kcal/mol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4050791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030"/>
                </a:solidFill>
                <a:latin typeface="Aptos"/>
              </a:rPr>
              <a:t>LOW ΔGopen = easier to expose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4718304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ΔG per nucleotide supports comparisons across footprint lengths.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docs/01-the-question.md; docs/04-tools.md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CORE CALCULATIONS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Two calculations answer the same event at different scopes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1463040"/>
            <a:ext cx="5285232" cy="4526280"/>
          </a:xfrm>
          <a:prstGeom prst="round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73936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tos"/>
              </a:rPr>
              <a:t>LOCAL SCREEN • RNAplfold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67712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030"/>
                </a:solidFill>
                <a:latin typeface="Aptos"/>
              </a:rPr>
              <a:t>Slide a 200-nt context along the 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52928"/>
            <a:ext cx="449884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One partition-function sweep gives all candidate intervals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Default maximum pair span: 150 nt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Fast enough to screen a full transcript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Produces joint opening and seed-opening lookup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5376672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Approximate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C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1773936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tos"/>
              </a:rPr>
              <a:t>GLOBAL CONFIRMATION • Vienna exact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267712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22030"/>
                </a:solidFill>
                <a:latin typeface="Aptos"/>
              </a:rPr>
              <a:t>Fold the whole molecule twice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301752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22030"/>
                </a:solidFill>
                <a:latin typeface="Aptos"/>
              </a:rPr>
              <a:t>G₀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05409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unconstrained ensemble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370332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22030"/>
                </a:solidFill>
                <a:latin typeface="Aptos"/>
              </a:rPr>
              <a:t>G₁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739896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target forced unpaired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4526280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59E0B"/>
                </a:solidFill>
                <a:latin typeface="Aptos"/>
              </a:rPr>
              <a:t>ΔGopen = G₁ − G₀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5166360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6170"/>
                </a:solidFill>
                <a:latin typeface="Aptos"/>
              </a:rPr>
              <a:t>More expensive, preferred coherent headline observation when compatible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docs/04-tools.md §4.3; docs/02-pipeline.md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The tools play different roles—they are not twelve equal votes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1444752"/>
            <a:ext cx="5193792" cy="1947672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0784"/>
            <a:ext cx="4553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JOINT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39696"/>
            <a:ext cx="4553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RNAplfold — local, scalable screen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RNAplfold CLI — parity check, same algorithm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Vienna exact — global constrained PF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444752"/>
            <a:ext cx="5193792" cy="1947672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1700784"/>
            <a:ext cx="4553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ptos"/>
              </a:rPr>
              <a:t>ENSEMBLE / CROSS-CHECK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139696"/>
            <a:ext cx="4553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RNAfold — global ensemble + entropy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RNAstructure PF — independent code/parameters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Ensemble sample — Monte Carlo state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3776472"/>
            <a:ext cx="5193792" cy="1947672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32504"/>
            <a:ext cx="4553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ALTERNATIVE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71416"/>
            <a:ext cx="4553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CONTRAfold — learned posterior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EternaFold — measurement-trained posterior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LinearFold — fast single 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3776472"/>
            <a:ext cx="5193792" cy="1947672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4032504"/>
            <a:ext cx="45537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Aptos"/>
              </a:rPr>
              <a:t>BLIND-SPOT DIAGNOSTICS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4471416"/>
            <a:ext cx="45537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ProbKnot — pseudoknots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G4 scan — quadruplex propensity</a:t>
            </a:r>
          </a:p>
          <a:p>
            <a:pPr>
              <a:spcAft>
                <a:spcPts val="10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 Kinwalker — co-transcriptional traps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19048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030"/>
                </a:solidFill>
                <a:latin typeface="Aptos"/>
              </a:rPr>
              <a:t>Only compatible probability estimands are pooled. Posteriors and single structures remain visible diagnostics.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docs/04-tools.md; docs/05-consensus-and-scoring.md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WHAT EACH LIBRARY CONTRIBUTES •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The main calculators: fast search first, careful confirmation second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5285232" cy="216712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RNAplfold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1965960"/>
            <a:ext cx="358444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Estimates how often every short stretch is fully open inside a moving local neighborhood.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0320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514600"/>
            <a:ext cx="3584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Very fast: one pass scores the whole transcript.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3580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HOW RNAVAIL USES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990088"/>
            <a:ext cx="3584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First-pass screen, seed search, profile and landscape.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53312"/>
            <a:ext cx="5285232" cy="216712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55448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RNAplfold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011680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WHAT IT 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965960"/>
            <a:ext cx="358444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Runs the same RNAplfold method through ViennaRNA’s official command-line program.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560320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ADVANTAGE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514600"/>
            <a:ext cx="3584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Checks that the Python integration is producing the same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03580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HOW RNAVAIL USES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990088"/>
            <a:ext cx="3584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Quality-control duplicate—not a second vote.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40480"/>
            <a:ext cx="5285232" cy="216712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416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Vienna exact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49884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WHAT IT DOES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5688" y="4453128"/>
            <a:ext cx="358444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Folds the complete RNA with and without the chosen region forced open; the energy difference is ΔGopen.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4748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5688" y="5001768"/>
            <a:ext cx="3584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Direct whole-molecule answer for the exact target interval.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522976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HOW RNAVAIL USES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75688" y="5477256"/>
            <a:ext cx="3584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Preferred headline opening value for shortlisted sites.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3840480"/>
            <a:ext cx="5285232" cy="216712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40416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RNAfold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449884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WHAT IT DOES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4453128"/>
            <a:ext cx="358444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Describes the whole equilibrium ensemble and its most likely low-energy structure.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5047488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ADVANTAGE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5001768"/>
            <a:ext cx="3584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Shows overall folding, uncertainty and per-base pairing.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5522976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HOW RNAVAIL USES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5477256"/>
            <a:ext cx="3584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Structural context and sanity checks—not a separate joint-opening vote.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Plain-language summary of docs/04-tools.md. “Library” here means the external engine; rnavail supplies an adapter around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WHAT EACH LIBRARY CONTRIBUTES •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Cross-checks: ask whether another model tells the same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5285232" cy="2167128"/>
          </a:xfrm>
          <a:prstGeom prst="roundRect">
            <a:avLst/>
          </a:prstGeom>
          <a:solidFill>
            <a:srgbClr val="F5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RNAstructure partition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75104"/>
            <a:ext cx="4005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Calculates pairing probabilities with a separate software codebase and parameter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78608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2514600"/>
            <a:ext cx="4005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Best independent thermodynamic cross-check; disagreement means genuine model sensitivity.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72384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008376"/>
            <a:ext cx="40050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Adds per-base probability evidence and disagreement diagnostics.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53312"/>
            <a:ext cx="5285232" cy="2167128"/>
          </a:xfrm>
          <a:prstGeom prst="roundRect">
            <a:avLst/>
          </a:prstGeom>
          <a:solidFill>
            <a:srgbClr val="F5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55448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Ensemble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039112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1975104"/>
            <a:ext cx="4005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Randomly draws thousands of structures in proportion to how likely they 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578608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2514600"/>
            <a:ext cx="4005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Shows whether a site is exposed, partly exposed or buried across actual sampled states.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072384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3008376"/>
            <a:ext cx="40050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Checks the global Vienna ensemble; rare open events become honest upper bounds.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40480"/>
            <a:ext cx="5285232" cy="2167128"/>
          </a:xfrm>
          <a:prstGeom prst="roundRect">
            <a:avLst/>
          </a:prstGeom>
          <a:solidFill>
            <a:srgbClr val="F5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416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LinearFold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526280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DOES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4462272"/>
            <a:ext cx="4005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Quickly predicts one likely fold for the entire transcript using beam search.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65776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5001768"/>
            <a:ext cx="4005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Scales well and can reveal long-distance pairing missed by a local window.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559552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USED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5495544"/>
            <a:ext cx="40050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Fast structural warning only; one drawing is not an opening probability.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3840480"/>
            <a:ext cx="5285232" cy="2167128"/>
          </a:xfrm>
          <a:prstGeom prst="roundRect">
            <a:avLst/>
          </a:prstGeom>
          <a:solidFill>
            <a:srgbClr val="F5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40416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CONTRAfold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4526280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DOES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462272"/>
            <a:ext cx="4005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Uses a machine-learned scoring model instead of laboratory-derived thermodynamic energies.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5065776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79" y="5001768"/>
            <a:ext cx="4005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 different model class; agreement with thermodynamic tools is reassuring.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5559552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79" y="5495544"/>
            <a:ext cx="40050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Provides a confidence-like posterior for comparison, never converted to ΔG.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docs/04-tools.md §4.4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WHAT EACH LIBRARY CONTRIBUTES •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Specialists look for structures ordinary folding tools cannot 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5285232" cy="2167128"/>
          </a:xfrm>
          <a:prstGeom prst="roundRect">
            <a:avLst/>
          </a:prstGeom>
          <a:solidFill>
            <a:srgbClr val="FFFAF6"/>
          </a:solidFill>
          <a:ln>
            <a:solidFill>
              <a:srgbClr val="E8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5448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EternaFold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39112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75104"/>
            <a:ext cx="4005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 learned model trained on roughly one million chemical-mapping measurements.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78608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2514600"/>
            <a:ext cx="4005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Tests whether data-trained parameters agree with conventional folding.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72384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008376"/>
            <a:ext cx="40050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Posterior diagnostic; kept separate from physical probabilities.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353312"/>
            <a:ext cx="5285232" cy="2167128"/>
          </a:xfrm>
          <a:prstGeom prst="roundRect">
            <a:avLst/>
          </a:prstGeom>
          <a:solidFill>
            <a:srgbClr val="FFFAF6"/>
          </a:solidFill>
          <a:ln>
            <a:solidFill>
              <a:srgbClr val="E8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554480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ProbKnot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039112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DOES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1975104"/>
            <a:ext cx="4005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Builds a structure that may contain crossing base pairs called pseudoknots.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578608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79" y="2514600"/>
            <a:ext cx="4005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Catches a major blind spot shared by normal nested-structure algorithms.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3072384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3008376"/>
            <a:ext cx="40050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If it locks the target, rnavail warns that accessibility may be too optimistic.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40480"/>
            <a:ext cx="5285232" cy="2167128"/>
          </a:xfrm>
          <a:prstGeom prst="roundRect">
            <a:avLst/>
          </a:prstGeom>
          <a:solidFill>
            <a:srgbClr val="FFFAF6"/>
          </a:solidFill>
          <a:ln>
            <a:solidFill>
              <a:srgbClr val="E8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416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G4Hunter 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526280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DOES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4462272"/>
            <a:ext cx="4005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Searches the letters themselves for G-rich patterns likely to form G-quadruplexes.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065776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5001768"/>
            <a:ext cx="4005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Always available and detects non-standard structures ordinary base-pair matrices omit.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5559552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USED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5495544"/>
            <a:ext cx="40050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Warning signal only; it does not produce a corrected opening probability.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3840480"/>
            <a:ext cx="5285232" cy="2167128"/>
          </a:xfrm>
          <a:prstGeom prst="roundRect">
            <a:avLst/>
          </a:prstGeom>
          <a:solidFill>
            <a:srgbClr val="FFFAF6"/>
          </a:solidFill>
          <a:ln>
            <a:solidFill>
              <a:srgbClr val="E8D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79" y="4041648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22030"/>
                </a:solidFill>
                <a:latin typeface="Aptos"/>
              </a:rPr>
              <a:t>Kinwalker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4526280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Aptos"/>
              </a:rPr>
              <a:t>DOES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462272"/>
            <a:ext cx="40050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Simulates one possible folding path while the RNA is being transcribed from 5′ to 3′.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79" y="5065776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79" y="5001768"/>
            <a:ext cx="40050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Aptos"/>
              </a:rPr>
              <a:t>Can expose kinetic traps hidden by equilibrium calculations.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5559552"/>
            <a:ext cx="566928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79" y="5495544"/>
            <a:ext cx="4005072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22030"/>
                </a:solidFill>
                <a:latin typeface="Aptos"/>
              </a:rPr>
              <a:t>Short constructs only; refuses long transcripts rather than hanging the run.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docs/04-tools.md §4.4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FROM CALCULATIONS TO RANK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Ranking is transparent: four evidence gates, then four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26464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CONSENSUS GATES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56231"/>
            <a:ext cx="420624" cy="420624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47672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874519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Deduplicate shared calculation groups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578608"/>
            <a:ext cx="420624" cy="420624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70048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596896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Keep estimands separate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300984"/>
            <a:ext cx="420624" cy="420624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92424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319272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Match probing/conditioning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023360"/>
            <a:ext cx="420624" cy="420624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14800"/>
            <a:ext cx="420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041648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Require protocol compatibility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56048"/>
            <a:ext cx="4434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170"/>
                </a:solidFill>
                <a:latin typeface="Aptos"/>
              </a:rPr>
              <a:t>Median is taken across independent compatible groups; disagreement is retained as spread.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417320"/>
            <a:ext cx="5989320" cy="4526280"/>
          </a:xfrm>
          <a:prstGeom prst="roundRect">
            <a:avLst/>
          </a:prstGeom>
          <a:solidFill>
            <a:srgbClr val="F5F8FA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9008" y="1737360"/>
            <a:ext cx="5285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DEFAULT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26771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030"/>
                </a:solidFill>
                <a:latin typeface="Aptos"/>
              </a:rPr>
              <a:t>Seed P(open)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22677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9488"/>
                </a:solidFill>
                <a:latin typeface="Aptos"/>
              </a:rPr>
              <a:t>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267712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10⁻⁴ → 0.5 • log ramp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9260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030"/>
                </a:solidFill>
                <a:latin typeface="Aptos"/>
              </a:rPr>
              <a:t>ΔGopen / 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29260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9488"/>
                </a:solidFill>
                <a:latin typeface="Aptos"/>
              </a:rPr>
              <a:t>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92608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1.0 → 0.05 • linear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584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030"/>
                </a:solidFill>
                <a:latin typeface="Aptos"/>
              </a:rPr>
              <a:t>Model spread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9488"/>
                </a:solidFill>
                <a:latin typeface="Aptos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584448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4.0 → 0.5 kcal/mol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424281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030"/>
                </a:solidFill>
                <a:latin typeface="Aptos"/>
              </a:rPr>
              <a:t>Length spread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424281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9488"/>
                </a:solidFill>
                <a:latin typeface="Aptos"/>
              </a:rPr>
              <a:t>15%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24281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0.15 → 0.01 kcal/mol/nt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99262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Aptos"/>
              </a:rPr>
              <a:t>score = exp[ Σ wᵢ ln(dᵢ) / Σ wᵢ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5431536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26170"/>
                </a:solidFill>
                <a:latin typeface="Aptos"/>
              </a:rPr>
              <a:t>Geometric mean: one poor required property can sink the rank. Missing criteria reduce coverage; they are not silently scored as zero.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docs/05-consensus-and-scoring.md §5.1–5.2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SAVED TRANSCRIPT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Worked rank calculation: candidate w1814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42646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RAW OBSERVATION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10512"/>
            <a:ext cx="3291840" cy="3383280"/>
          </a:xfrm>
          <a:prstGeom prst="round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121408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22030"/>
                </a:solidFill>
                <a:latin typeface="Aptos"/>
              </a:rPr>
              <a:t>20 nt • positions 1814–1833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889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D9488"/>
                </a:solidFill>
                <a:latin typeface="Aptos"/>
              </a:rPr>
              <a:t>Seed P = 0.760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342900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030"/>
                </a:solidFill>
                <a:latin typeface="Aptos"/>
              </a:rPr>
              <a:t>ΔGopen = 2.62 kcal/mol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041648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030"/>
                </a:solidFill>
                <a:latin typeface="Aptos"/>
              </a:rPr>
              <a:t>ΔGopen / nt = 0.131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459028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26170"/>
                </a:solidFill>
                <a:latin typeface="Aptos"/>
              </a:rPr>
              <a:t>Joint P = 0.014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16382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1810512"/>
            <a:ext cx="2816352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2121408"/>
            <a:ext cx="22128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  <a:latin typeface="Aptos"/>
              </a:rPr>
              <a:t>DESIRABILITY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8163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163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0D9488"/>
                </a:solidFill>
                <a:latin typeface="Aptos"/>
              </a:rPr>
              <a:t>1.000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45643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Opening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4564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0D9488"/>
                </a:solidFill>
                <a:latin typeface="Aptos"/>
              </a:rPr>
              <a:t>0.915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4096512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170"/>
                </a:solidFill>
                <a:latin typeface="Aptos"/>
              </a:rPr>
              <a:t>Model robustness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412394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526170"/>
                </a:solidFill>
                <a:latin typeface="Aptos"/>
              </a:rPr>
              <a:t>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4617720"/>
            <a:ext cx="1417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170"/>
                </a:solidFill>
                <a:latin typeface="Aptos"/>
              </a:rPr>
              <a:t>Length robustness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4645152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526170"/>
                </a:solidFill>
                <a:latin typeface="Aptos"/>
              </a:rPr>
              <a:t>missing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316382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1810512"/>
            <a:ext cx="2578608" cy="3383280"/>
          </a:xfrm>
          <a:prstGeom prst="roundRect">
            <a:avLst/>
          </a:prstGeom>
          <a:solidFill>
            <a:srgbClr val="122030"/>
          </a:solidFill>
          <a:ln>
            <a:solidFill>
              <a:srgbClr val="12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176272"/>
            <a:ext cx="202996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EE7B7"/>
                </a:solidFill>
                <a:latin typeface="Aptos"/>
              </a:rPr>
              <a:t>WEIGHTED
GEOMETRIC MEAN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127248"/>
            <a:ext cx="202996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700" b="1">
                <a:solidFill>
                  <a:srgbClr val="FFFFFF"/>
                </a:solidFill>
                <a:latin typeface="Aptos"/>
              </a:rPr>
              <a:t>0.963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096512"/>
            <a:ext cx="2029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Aptos"/>
              </a:rPr>
              <a:t>coverage 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608576"/>
            <a:ext cx="20299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  <a:latin typeface="Aptos"/>
              </a:rPr>
              <a:t>This is a preference score, not a 96.3% binding probability.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96128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Aptos"/>
              </a:rPr>
              <a:t>Because robustness sweeps were not requested, the score uses only 70% of intended weight. Run --robustness and --length-robustness for a better-founded rank.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Saved run: runs/20260913-175402/report.json; scoring anchors: docs/05-consensus-and-scoring.md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HOW ALL THE INFORMATION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Not every tool changes the score—and that is intentional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3456432" cy="4553712"/>
          </a:xfrm>
          <a:prstGeom prst="round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09928"/>
            <a:ext cx="2761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D9488"/>
                </a:solidFill>
                <a:latin typeface="Aptos"/>
              </a:rPr>
              <a:t>DIRECTLY RANKS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27614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Can an initial seed become exposed?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How much work per base opens the full site?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Does the answer survive changes in folding settings?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Does it survive nearby footprint lengths?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166360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2030"/>
                </a:solidFill>
                <a:latin typeface="Aptos"/>
              </a:rPr>
              <a:t>→ four desirabilities → one geometric mean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89888"/>
            <a:ext cx="3456432" cy="4553712"/>
          </a:xfrm>
          <a:prstGeom prst="roundRect">
            <a:avLst/>
          </a:prstGeom>
          <a:solidFill>
            <a:srgbClr val="F5F8FA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1709928"/>
            <a:ext cx="2761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SELECTS / CROSS-CHECKS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221992"/>
            <a:ext cx="27614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Exact global result supplies the coherent headline P and ΔG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Compatible probability tools form a de-duplicated consensus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Local-versus-global difference measures scope sensitivity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Sampling and alternative models test the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5166360"/>
            <a:ext cx="27614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2030"/>
                </a:solidFill>
                <a:latin typeface="Aptos"/>
              </a:rPr>
              <a:t>→ confidence and interpretation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389888"/>
            <a:ext cx="3456432" cy="455371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09928"/>
            <a:ext cx="2761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WARNS, BUT DOES NOT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21992"/>
            <a:ext cx="276148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Possible pseudoknot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Possible G-quadruplex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Kinetic folding trap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Mutation or transcript-context sensitivity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Tool failure or unsupported 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166360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22030"/>
                </a:solidFill>
                <a:latin typeface="Aptos"/>
              </a:rPr>
              <a:t>→ reasons to test, reject or 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The score stays small and auditable; important non-comparable evidence remains visible instead of being forced into one number.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CORE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The important distinction: each base open vs. all bases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6576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0"/>
                </a:solidFill>
                <a:latin typeface="Aptos"/>
              </a:rPr>
              <a:t>Marginal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420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170"/>
                </a:solidFill>
                <a:latin typeface="Aptos"/>
              </a:rPr>
              <a:t>Mean per-base unpaired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44368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0D9488"/>
                </a:solidFill>
                <a:latin typeface="Aptos"/>
              </a:rPr>
              <a:t>0.81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6791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Looks 81% open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72768"/>
            <a:ext cx="3657600" cy="3520440"/>
          </a:xfrm>
          <a:prstGeom prst="round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7451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030"/>
                </a:solidFill>
                <a:latin typeface="Aptos"/>
              </a:rPr>
              <a:t>Joint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420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170"/>
                </a:solidFill>
                <a:latin typeface="Aptos"/>
              </a:rPr>
              <a:t>P(all 12 nt unpaired together)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44368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DC2626"/>
                </a:solidFill>
                <a:latin typeface="Aptos"/>
              </a:rPr>
              <a:t>0.00026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6791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Aptos"/>
              </a:rPr>
              <a:t>≈ 1 time in 3,800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51460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59E0B"/>
                </a:solidFill>
                <a:latin typeface="Aptos"/>
              </a:rPr>
              <a:t>≈3,100×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31012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030"/>
                </a:solidFill>
                <a:latin typeface="Aptos"/>
              </a:rPr>
              <a:t>different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10652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1F2937"/>
                </a:solidFill>
                <a:latin typeface="Aptos"/>
              </a:rPr>
              <a:t>Different nucleotides breathe at different times. A full-footprint binder needs them open simultaneously; a shorter seed is a separate event.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Repository test molecule, region 9–20; README.md and docs/01-the-question.md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SAVED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Worked example: a toehold switch with an mCherry off-target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3619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Aptos"/>
              </a:rPr>
              <a:t>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5623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22030"/>
                </a:solidFill>
                <a:latin typeface="Aptos"/>
              </a:rPr>
              <a:t>Candidate 1 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0428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26170"/>
                </a:solidFill>
                <a:latin typeface="Aptos"/>
              </a:rPr>
              <a:t>95 nt • GC 52.6%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88920"/>
            <a:ext cx="2926080" cy="1463040"/>
          </a:xfrm>
          <a:prstGeom prst="roundRect">
            <a:avLst/>
          </a:prstGeom>
          <a:solidFill>
            <a:srgbClr val="CCFBF1"/>
          </a:solidFill>
          <a:ln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5409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Aptos"/>
              </a:rPr>
              <a:t>TOEHOLD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95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22030"/>
                </a:solidFill>
                <a:latin typeface="Aptos"/>
              </a:rPr>
              <a:t>positions 1–26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498848"/>
            <a:ext cx="2926080" cy="960120"/>
          </a:xfrm>
          <a:prstGeom prst="roundRect">
            <a:avLst/>
          </a:prstGeom>
          <a:solidFill>
            <a:srgbClr val="F5F8FA"/>
          </a:solidFill>
          <a:ln>
            <a:solidFill>
              <a:srgbClr val="D5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8006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22030"/>
                </a:solidFill>
                <a:latin typeface="Aptos"/>
              </a:rPr>
              <a:t>MAIN STEM • 27–32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327355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Aptos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377440"/>
            <a:ext cx="2971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3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697480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Aptos"/>
              </a:rPr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200400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22030"/>
                </a:solidFill>
                <a:latin typeface="Aptos"/>
              </a:rPr>
              <a:t>35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8679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6170"/>
                </a:solidFill>
                <a:latin typeface="Aptos"/>
              </a:rPr>
              <a:t>seed length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3273552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D9488"/>
                </a:solidFill>
                <a:latin typeface="Aptos"/>
              </a:rPr>
              <a:t>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377440"/>
            <a:ext cx="2834640" cy="219456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269748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ptos"/>
              </a:rPr>
              <a:t>COMPETITOR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320040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22030"/>
                </a:solidFill>
                <a:latin typeface="Aptos"/>
              </a:rPr>
              <a:t>mCherry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386791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26170"/>
                </a:solidFill>
                <a:latin typeface="Aptos"/>
              </a:rPr>
              <a:t>off-target 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33872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ptos"/>
              </a:rPr>
              <a:t>Run protocol: 37 °C • Turner 2004 • 12 tools ran • 3.3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Saved run: runs/20260905-133646-candidate1-alltools/meta.json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mCherry run: the toehold ranks strongly, but “open” is nuanced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cher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89888"/>
            <a:ext cx="5806440" cy="26612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572768"/>
            <a:ext cx="4800600" cy="4343400"/>
          </a:xfrm>
          <a:prstGeom prst="roundRect">
            <a:avLst/>
          </a:prstGeom>
          <a:solidFill>
            <a:srgbClr val="F5F8FA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847088"/>
            <a:ext cx="4069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Aptos"/>
              </a:rPr>
              <a:t>TOEHOLD • 26 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304288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2030"/>
                </a:solidFill>
                <a:latin typeface="Aptos"/>
              </a:rPr>
              <a:t>Rank 0.961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880360"/>
            <a:ext cx="39776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Joint P(open) = 0.00898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ΔGopen = 2.90 kcal/mol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Best 8-nt seed P(open) = 0.211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 Saved interaction-stage estimate: ΔGtotal = −29.67 kcal/mol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491947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5230368"/>
            <a:ext cx="3931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The full footprint is rarely pre-open, but seed nucleation is much more plausible. The rank is a heuristic—not a 96% success probability.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Saved run: runs/20260905-133646-candidate1-alltools/report.txt. Historical interaction metrics are no longer in the current single-molecule scope.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RUN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A current transcript scan shows the intended workflow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51790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D9488"/>
                </a:solidFill>
                <a:latin typeface="Aptos"/>
              </a:rPr>
              <a:t>1,833 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116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26170"/>
                </a:solidFill>
                <a:latin typeface="Aptos"/>
              </a:rPr>
              <a:t>transcript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51790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D9488"/>
                </a:solidFill>
                <a:latin typeface="Aptos"/>
              </a:rPr>
              <a:t>1,814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26170"/>
                </a:solidFill>
                <a:latin typeface="Aptos"/>
              </a:rPr>
              <a:t>20-nt windows screened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51790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D9488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26170"/>
                </a:solidFill>
                <a:latin typeface="Aptos"/>
              </a:rPr>
              <a:t>candidates deep-tested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517904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D9488"/>
                </a:solidFill>
                <a:latin typeface="Apto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01168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26170"/>
                </a:solidFill>
                <a:latin typeface="Aptos"/>
              </a:rPr>
              <a:t>tools 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743200"/>
            <a:ext cx="1069848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6170"/>
                </a:solidFill>
                <a:latin typeface="Aptos"/>
              </a:rPr>
              <a:t>Candidate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0632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6170"/>
                </a:solidFill>
                <a:latin typeface="Aptos"/>
              </a:rPr>
              <a:t>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632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6170"/>
                </a:solidFill>
                <a:latin typeface="Aptos"/>
              </a:rPr>
              <a:t>Seed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19" y="30632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6170"/>
                </a:solidFill>
                <a:latin typeface="Aptos"/>
              </a:rPr>
              <a:t>Joint 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0632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6170"/>
                </a:solidFill>
                <a:latin typeface="Aptos"/>
              </a:rPr>
              <a:t>ΔGopen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118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030"/>
                </a:solidFill>
                <a:latin typeface="Aptos"/>
              </a:rPr>
              <a:t>w1814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6118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0.963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118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0.760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19" y="36118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0.014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6118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2.62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030"/>
                </a:solidFill>
                <a:latin typeface="Aptos"/>
              </a:rPr>
              <a:t>w344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0690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0.929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0690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0.835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19" y="40690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0.00156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0690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3.98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5262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030"/>
                </a:solidFill>
                <a:latin typeface="Aptos"/>
              </a:rPr>
              <a:t>w150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5262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0.906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5262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0.314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19" y="45262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0.00230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52628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2030"/>
                </a:solidFill>
                <a:latin typeface="Aptos"/>
              </a:rPr>
              <a:t>3.74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532120"/>
            <a:ext cx="10332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C2626"/>
                </a:solidFill>
                <a:latin typeface="Aptos"/>
              </a:rPr>
              <a:t>Important warning: local-window and global calculations differed by 1.6–5.5 kcal/mol for several candidates; one site also carried a pseudoknot warning.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Saved run: runs/20260913-175402/report.txt and meta.json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ACTUAL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What the real HTML report looks like: transcript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6072" y="1261872"/>
            <a:ext cx="1101852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C4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port_overvie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7589520" cy="4828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57276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HOW TO READ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94776" y="2057400"/>
            <a:ext cx="475488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94776" y="2148840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20756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0"/>
                </a:solidFill>
                <a:latin typeface="Aptos"/>
              </a:rPr>
              <a:t>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523744"/>
            <a:ext cx="25146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Low valleys cost less energy to open. Shaded bands are shortlisted locations.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94776" y="3401568"/>
            <a:ext cx="475488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94776" y="349300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34198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0"/>
                </a:solidFill>
                <a:latin typeface="Aptos"/>
              </a:rPr>
              <a:t>Landscape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858768"/>
            <a:ext cx="2514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Shows whether a location remains accessible when the binder length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94776" y="4690872"/>
            <a:ext cx="475488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4782312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4709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030"/>
                </a:solidFill>
                <a:latin typeface="Aptos"/>
              </a:rPr>
              <a:t>Ranked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5148072"/>
            <a:ext cx="2514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Links every proposed site to its detailed evidence card.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Screenshot of runs/20260913-175402/report.html — the report is self-contained and can be opened in any browser.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ACTUAL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What the real HTML report looks like: one candidate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261872"/>
            <a:ext cx="8119872" cy="5175504"/>
          </a:xfrm>
          <a:prstGeom prst="roundRect">
            <a:avLst/>
          </a:prstGeom>
          <a:solidFill>
            <a:srgbClr val="FFFFFF"/>
          </a:solidFill>
          <a:ln>
            <a:solidFill>
              <a:srgbClr val="C4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port_candidat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62456"/>
            <a:ext cx="5833872" cy="4956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48272" y="1527048"/>
            <a:ext cx="15727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Aptos"/>
              </a:rPr>
              <a:t>THE CARD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8272" y="2029968"/>
            <a:ext cx="1600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What are the physical values?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Which tool supplied the headline?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What warning changes interpretation?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Exactly how was the rank built?</a:t>
            </a:r>
          </a:p>
          <a:p>
            <a:pPr>
              <a:spcAft>
                <a:spcPts val="1000"/>
              </a:spcAft>
              <a:defRPr sz="1300">
                <a:solidFill>
                  <a:srgbClr val="1F2937"/>
                </a:solidFill>
                <a:latin typeface="Aptos"/>
              </a:defRPr>
            </a:pPr>
            <a:r>
              <a:t>•  What pairing pattern and fold are predicted?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1261872"/>
            <a:ext cx="2651760" cy="5175504"/>
          </a:xfrm>
          <a:prstGeom prst="roundRect">
            <a:avLst/>
          </a:prstGeom>
          <a:solidFill>
            <a:srgbClr val="122030"/>
          </a:solidFill>
          <a:ln>
            <a:solidFill>
              <a:srgbClr val="12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53728" y="1609344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Example w1814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53728" y="22677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Aptos"/>
              </a:rPr>
              <a:t>Full site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606040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6EE7B7"/>
                </a:solidFill>
                <a:latin typeface="Aptos"/>
              </a:rPr>
              <a:t>1.4%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327355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BD5E1"/>
                </a:solidFill>
                <a:latin typeface="Aptos"/>
              </a:rPr>
              <a:t>Seed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3611880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6EE7B7"/>
                </a:solidFill>
                <a:latin typeface="Aptos"/>
              </a:rPr>
              <a:t>76.0%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4462272"/>
            <a:ext cx="2011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The report immediately explains the gap: nucleation may be plausible even when the whole footprint is rarely pre-open.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Screenshot of runs/20260913-175402/report.html, candidate w1814.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LIMITATIONS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Use the ranking as a shortlist, not a binding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90472"/>
            <a:ext cx="5303520" cy="452628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BOUNDARY OF THE 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5262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Single-molecule secondary structure only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No partner binding, concentration, specificity or cellular endpoint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Equilibrium-focused; kinetics mostly absent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Mg²⁺, pH, crowding, proteins, ribosomes and 3D contacts are not modeled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490472"/>
            <a:ext cx="5230368" cy="4526280"/>
          </a:xfrm>
          <a:prstGeom prst="roundRect">
            <a:avLst/>
          </a:prstGeom>
          <a:solidFill>
            <a:srgbClr val="F5F8FA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810512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MODEL &amp; INPUT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331720"/>
            <a:ext cx="44348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Most joint-opening estimates share ViennaRNA lineage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Local vs. global scope can disagree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Pseudoknots/G-quadruplexes need special diagnostics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Window length, transcript boundaries, isoform and variants can reorder results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 Heuristic weights are not experimentally calibrated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docs/07-limitations.md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D9488"/>
                </a:solidFill>
                <a:latin typeface="Aptos"/>
              </a:rPr>
              <a:t>FUTURE STEPS +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356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22030"/>
                </a:solidFill>
                <a:latin typeface="Aptos"/>
              </a:rPr>
              <a:t>Next: connect structural accessibility to measured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005840" cy="457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389888"/>
            <a:ext cx="457200" cy="457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371600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8608" y="137160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Test accessible, buried and disagreement candidates in matched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31136"/>
            <a:ext cx="457200" cy="457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2257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212848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Calibrate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212848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Fit assay-specific rank/endpoint models on held-out transcripts.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072384"/>
            <a:ext cx="457200" cy="457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6382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054096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Extend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3054096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Optional partner-specific interaction command with chemistry checks.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913632"/>
            <a:ext cx="457200" cy="457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00507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895344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Contextualize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3895344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Isoform/haplotype analysis and condition-matched biological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754880"/>
            <a:ext cx="457200" cy="457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84632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736592"/>
            <a:ext cx="1143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030"/>
                </a:solidFill>
                <a:latin typeface="Aptos"/>
              </a:rPr>
              <a:t>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736592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Kinetic and CGMD modules only with direct experimental validation.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1417320"/>
            <a:ext cx="3383280" cy="4343400"/>
          </a:xfrm>
          <a:prstGeom prst="roundRect">
            <a:avLst/>
          </a:prstGeom>
          <a:solidFill>
            <a:srgbClr val="122030"/>
          </a:solidFill>
          <a:ln>
            <a:solidFill>
              <a:srgbClr val="12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783080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6EE7B7"/>
                </a:solidFill>
                <a:latin typeface="Aptos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395728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Sequence presence
is not accessibility.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94760"/>
            <a:ext cx="2697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E2E8F0"/>
                </a:solidFill>
                <a:latin typeface="Aptos"/>
              </a:rPr>
              <a:t>rnavail identifies structurally plausible targets, separates seed from full-footprint opening, and preserves the caveats needed to interpret the rank.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47104"/>
            <a:ext cx="10881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26170"/>
                </a:solidFill>
                <a:latin typeface="Aptos"/>
              </a:rPr>
              <a:t>Source: docs/09-rna-accessibility-implementation-proposal.md;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rnavail — repository overview</dc:title>
  <dc:subject>Problem, need, solution, workflow, saved mCherry example, caveats and future steps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